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27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33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x="18288000" cy="10287000"/>
  <p:notesSz cx="6858000" cy="9144000"/>
  <p:embeddedFontLst>
    <p:embeddedFont>
      <p:font typeface="Arimo" charset="1" panose="020B0604020202020204"/>
      <p:regular r:id="rId36"/>
    </p:embeddedFont>
    <p:embeddedFont>
      <p:font typeface="Open Sans" charset="1" panose="020B0606030504020204"/>
      <p:regular r:id="rId37"/>
    </p:embeddedFont>
    <p:embeddedFont>
      <p:font typeface="Arimo Bold" charset="1" panose="020B0704020202020204"/>
      <p:regular r:id="rId39"/>
    </p:embeddedFont>
    <p:embeddedFont>
      <p:font typeface="Agrandir Grand" charset="1" panose="00000507000000000000"/>
      <p:regular r:id="rId49"/>
    </p:embeddedFont>
    <p:embeddedFont>
      <p:font typeface="Glacial Indifference" charset="1" panose="00000000000000000000"/>
      <p:regular r:id="rId65"/>
    </p:embeddedFont>
    <p:embeddedFont>
      <p:font typeface="Pathway Gothic One" charset="1" panose="02000506050000020004"/>
      <p:regular r:id="rId66"/>
    </p:embeddedFont>
    <p:embeddedFont>
      <p:font typeface="Open Sans Bold" charset="1" panose="020B0806030504020204"/>
      <p:regular r:id="rId6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notesMasters/notesMaster1.xml" Type="http://schemas.openxmlformats.org/officeDocument/2006/relationships/notesMaster"/><Relationship Id="rId34" Target="theme/theme2.xml" Type="http://schemas.openxmlformats.org/officeDocument/2006/relationships/theme"/><Relationship Id="rId35" Target="notesSlides/notesSlide1.xml" Type="http://schemas.openxmlformats.org/officeDocument/2006/relationships/notesSlide"/><Relationship Id="rId36" Target="fonts/font36.fntdata" Type="http://schemas.openxmlformats.org/officeDocument/2006/relationships/font"/><Relationship Id="rId37" Target="fonts/font37.fntdata" Type="http://schemas.openxmlformats.org/officeDocument/2006/relationships/font"/><Relationship Id="rId38" Target="notesSlides/notesSlide2.xml" Type="http://schemas.openxmlformats.org/officeDocument/2006/relationships/notesSlide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40" Target="notesSlides/notesSlide3.xml" Type="http://schemas.openxmlformats.org/officeDocument/2006/relationships/notesSlide"/><Relationship Id="rId41" Target="notesSlides/notesSlide4.xml" Type="http://schemas.openxmlformats.org/officeDocument/2006/relationships/notesSlide"/><Relationship Id="rId42" Target="notesSlides/notesSlide5.xml" Type="http://schemas.openxmlformats.org/officeDocument/2006/relationships/notesSlide"/><Relationship Id="rId43" Target="notesSlides/notesSlide6.xml" Type="http://schemas.openxmlformats.org/officeDocument/2006/relationships/notesSlide"/><Relationship Id="rId44" Target="notesSlides/notesSlide7.xml" Type="http://schemas.openxmlformats.org/officeDocument/2006/relationships/notesSlide"/><Relationship Id="rId45" Target="notesSlides/notesSlide8.xml" Type="http://schemas.openxmlformats.org/officeDocument/2006/relationships/notesSlide"/><Relationship Id="rId46" Target="notesSlides/notesSlide9.xml" Type="http://schemas.openxmlformats.org/officeDocument/2006/relationships/notesSlide"/><Relationship Id="rId47" Target="notesSlides/notesSlide10.xml" Type="http://schemas.openxmlformats.org/officeDocument/2006/relationships/notesSlide"/><Relationship Id="rId48" Target="notesSlides/notesSlide11.xml" Type="http://schemas.openxmlformats.org/officeDocument/2006/relationships/notesSlide"/><Relationship Id="rId49" Target="fonts/font49.fntdata" Type="http://schemas.openxmlformats.org/officeDocument/2006/relationships/font"/><Relationship Id="rId5" Target="tableStyles.xml" Type="http://schemas.openxmlformats.org/officeDocument/2006/relationships/tableStyles"/><Relationship Id="rId50" Target="notesSlides/notesSlide12.xml" Type="http://schemas.openxmlformats.org/officeDocument/2006/relationships/notesSlide"/><Relationship Id="rId51" Target="notesSlides/notesSlide13.xml" Type="http://schemas.openxmlformats.org/officeDocument/2006/relationships/notesSlide"/><Relationship Id="rId52" Target="notesSlides/notesSlide14.xml" Type="http://schemas.openxmlformats.org/officeDocument/2006/relationships/notesSlide"/><Relationship Id="rId53" Target="notesSlides/notesSlide15.xml" Type="http://schemas.openxmlformats.org/officeDocument/2006/relationships/notesSlide"/><Relationship Id="rId54" Target="notesSlides/notesSlide16.xml" Type="http://schemas.openxmlformats.org/officeDocument/2006/relationships/notesSlide"/><Relationship Id="rId55" Target="notesSlides/notesSlide17.xml" Type="http://schemas.openxmlformats.org/officeDocument/2006/relationships/notesSlide"/><Relationship Id="rId56" Target="notesSlides/notesSlide18.xml" Type="http://schemas.openxmlformats.org/officeDocument/2006/relationships/notesSlide"/><Relationship Id="rId57" Target="notesSlides/notesSlide19.xml" Type="http://schemas.openxmlformats.org/officeDocument/2006/relationships/notesSlide"/><Relationship Id="rId58" Target="notesSlides/notesSlide20.xml" Type="http://schemas.openxmlformats.org/officeDocument/2006/relationships/notesSlide"/><Relationship Id="rId59" Target="notesSlides/notesSlide21.xml" Type="http://schemas.openxmlformats.org/officeDocument/2006/relationships/notesSlide"/><Relationship Id="rId6" Target="slides/slide1.xml" Type="http://schemas.openxmlformats.org/officeDocument/2006/relationships/slide"/><Relationship Id="rId60" Target="notesSlides/notesSlide22.xml" Type="http://schemas.openxmlformats.org/officeDocument/2006/relationships/notesSlide"/><Relationship Id="rId61" Target="notesSlides/notesSlide23.xml" Type="http://schemas.openxmlformats.org/officeDocument/2006/relationships/notesSlide"/><Relationship Id="rId62" Target="notesSlides/notesSlide24.xml" Type="http://schemas.openxmlformats.org/officeDocument/2006/relationships/notesSlide"/><Relationship Id="rId63" Target="notesSlides/notesSlide25.xml" Type="http://schemas.openxmlformats.org/officeDocument/2006/relationships/notesSlide"/><Relationship Id="rId64" Target="notesSlides/notesSlide26.xml" Type="http://schemas.openxmlformats.org/officeDocument/2006/relationships/notesSlide"/><Relationship Id="rId65" Target="fonts/font65.fntdata" Type="http://schemas.openxmlformats.org/officeDocument/2006/relationships/font"/><Relationship Id="rId66" Target="fonts/font66.fntdata" Type="http://schemas.openxmlformats.org/officeDocument/2006/relationships/font"/><Relationship Id="rId67" Target="notesSlides/notesSlide27.xml" Type="http://schemas.openxmlformats.org/officeDocument/2006/relationships/notesSlide"/><Relationship Id="rId68" Target="fonts/font68.fntdata" Type="http://schemas.openxmlformats.org/officeDocument/2006/relationships/font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2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_rels/notesSlide2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_rels/notesSlide2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3.xml" Type="http://schemas.openxmlformats.org/officeDocument/2006/relationships/slide"/></Relationships>
</file>

<file path=ppt/notesSlides/_rels/notesSlide2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4.xml" Type="http://schemas.openxmlformats.org/officeDocument/2006/relationships/slide"/></Relationships>
</file>

<file path=ppt/notesSlides/_rels/notesSlide2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5.xml" Type="http://schemas.openxmlformats.org/officeDocument/2006/relationships/slide"/></Relationships>
</file>

<file path=ppt/notesSlides/_rels/notesSlide2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6.xml" Type="http://schemas.openxmlformats.org/officeDocument/2006/relationships/slide"/></Relationships>
</file>

<file path=ppt/notesSlides/_rels/notesSlide2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7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8.png" Type="http://schemas.openxmlformats.org/officeDocument/2006/relationships/image"/><Relationship Id="rId4" Target="../media/image9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3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4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5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6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17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Relationship Id="rId3" Target="../media/image18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Relationship Id="rId3" Target="../media/image19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Relationship Id="rId3" Target="../media/image20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8.xml" Type="http://schemas.openxmlformats.org/officeDocument/2006/relationships/notesSlide"/><Relationship Id="rId3" Target="../media/image21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9.xml" Type="http://schemas.openxmlformats.org/officeDocument/2006/relationships/notesSlide"/><Relationship Id="rId3" Target="../media/image22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0.xml" Type="http://schemas.openxmlformats.org/officeDocument/2006/relationships/notesSlide"/><Relationship Id="rId3" Target="../media/image21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1.xml" Type="http://schemas.openxmlformats.org/officeDocument/2006/relationships/notesSlide"/><Relationship Id="rId3" Target="../media/image23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2.xml" Type="http://schemas.openxmlformats.org/officeDocument/2006/relationships/notesSlide"/><Relationship Id="rId3" Target="../media/image24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3.xml" Type="http://schemas.openxmlformats.org/officeDocument/2006/relationships/notesSlide"/><Relationship Id="rId3" Target="../media/image25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4.xml" Type="http://schemas.openxmlformats.org/officeDocument/2006/relationships/notesSlide"/><Relationship Id="rId3" Target="../media/image26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5.xml" Type="http://schemas.openxmlformats.org/officeDocument/2006/relationships/notesSlide"/><Relationship Id="rId3" Target="../media/image27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7.xml" Type="http://schemas.openxmlformats.org/officeDocument/2006/relationships/notesSlide"/><Relationship Id="rId3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0" y="0"/>
            <a:ext cx="18287942" cy="10287000"/>
            <a:chOff x="0" y="0"/>
            <a:chExt cx="24383923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87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873">
                  <a:moveTo>
                    <a:pt x="0" y="0"/>
                  </a:moveTo>
                  <a:lnTo>
                    <a:pt x="24383873" y="0"/>
                  </a:lnTo>
                  <a:lnTo>
                    <a:pt x="2438387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AutoShape 4" id="4"/>
          <p:cNvSpPr/>
          <p:nvPr/>
        </p:nvSpPr>
        <p:spPr>
          <a:xfrm rot="4122">
            <a:off x="-9531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" id="5"/>
          <p:cNvGrpSpPr/>
          <p:nvPr/>
        </p:nvGrpSpPr>
        <p:grpSpPr>
          <a:xfrm rot="0">
            <a:off x="5180171" y="1725188"/>
            <a:ext cx="12007800" cy="4532268"/>
            <a:chOff x="0" y="0"/>
            <a:chExt cx="16010400" cy="604302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010399" cy="6043025"/>
            </a:xfrm>
            <a:custGeom>
              <a:avLst/>
              <a:gdLst/>
              <a:ahLst/>
              <a:cxnLst/>
              <a:rect r="r" b="b" t="t" l="l"/>
              <a:pathLst>
                <a:path h="6043025" w="16010399">
                  <a:moveTo>
                    <a:pt x="0" y="0"/>
                  </a:moveTo>
                  <a:lnTo>
                    <a:pt x="16010399" y="0"/>
                  </a:lnTo>
                  <a:lnTo>
                    <a:pt x="16010399" y="6043025"/>
                  </a:lnTo>
                  <a:lnTo>
                    <a:pt x="0" y="604302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447675"/>
              <a:ext cx="16010400" cy="5595349"/>
            </a:xfrm>
            <a:prstGeom prst="rect">
              <a:avLst/>
            </a:prstGeom>
          </p:spPr>
          <p:txBody>
            <a:bodyPr anchor="b" rtlCol="false" tIns="0" lIns="0" bIns="0" rIns="0"/>
            <a:lstStyle/>
            <a:p>
              <a:pPr algn="l">
                <a:lnSpc>
                  <a:spcPts val="12264"/>
                </a:lnSpc>
              </a:pPr>
              <a:r>
                <a:rPr lang="en-US" sz="146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SYSTEM DE GESTION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5852654" y="5900269"/>
            <a:ext cx="8626350" cy="69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9"/>
              </a:lnSpc>
            </a:pPr>
            <a:r>
              <a:rPr lang="en-US" sz="44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ressources humaines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1427" y="638981"/>
            <a:ext cx="10508001" cy="1631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9"/>
              </a:lnSpc>
            </a:pPr>
            <a:r>
              <a:rPr lang="en-US" sz="216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Projet realisé par:</a:t>
            </a:r>
          </a:p>
          <a:p>
            <a:pPr algn="l">
              <a:lnSpc>
                <a:spcPts val="2599"/>
              </a:lnSpc>
            </a:pPr>
            <a:r>
              <a:rPr lang="en-US" sz="216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-CHENTOUFI EL ALAMI Hamza </a:t>
            </a:r>
          </a:p>
          <a:p>
            <a:pPr algn="l">
              <a:lnSpc>
                <a:spcPts val="2599"/>
              </a:lnSpc>
            </a:pPr>
            <a:r>
              <a:rPr lang="en-US" sz="216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-LOURAOUI Ayoub </a:t>
            </a:r>
          </a:p>
          <a:p>
            <a:pPr algn="l">
              <a:lnSpc>
                <a:spcPts val="2599"/>
              </a:lnSpc>
            </a:pPr>
            <a:r>
              <a:rPr lang="en-US" sz="216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-</a:t>
            </a:r>
            <a:r>
              <a:rPr lang="en-US" sz="216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ABDELKHALEQ Ibrahim </a:t>
            </a:r>
          </a:p>
          <a:p>
            <a:pPr algn="l">
              <a:lnSpc>
                <a:spcPts val="2599"/>
              </a:lnSpc>
            </a:pPr>
            <a:r>
              <a:rPr lang="en-US" sz="216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- ELOUEDRHIIRI Abdelbadii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-1365401" y="0"/>
            <a:ext cx="18624701" cy="10476427"/>
            <a:chOff x="0" y="0"/>
            <a:chExt cx="24383923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87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873">
                  <a:moveTo>
                    <a:pt x="0" y="0"/>
                  </a:moveTo>
                  <a:lnTo>
                    <a:pt x="24383873" y="0"/>
                  </a:lnTo>
                  <a:lnTo>
                    <a:pt x="2438387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AutoShape 4" id="4"/>
          <p:cNvSpPr/>
          <p:nvPr/>
        </p:nvSpPr>
        <p:spPr>
          <a:xfrm rot="4122">
            <a:off x="-9531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-4409146" y="1191219"/>
            <a:ext cx="7738876" cy="745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123"/>
              </a:lnSpc>
            </a:pPr>
            <a:r>
              <a:rPr lang="en-US" b="true" sz="6099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Plan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309730" y="5827870"/>
            <a:ext cx="1381800" cy="865200"/>
            <a:chOff x="0" y="0"/>
            <a:chExt cx="1842400" cy="1153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842400" cy="1153600"/>
            </a:xfrm>
            <a:custGeom>
              <a:avLst/>
              <a:gdLst/>
              <a:ahLst/>
              <a:cxnLst/>
              <a:rect r="r" b="b" t="t" l="l"/>
              <a:pathLst>
                <a:path h="1153600" w="1842400">
                  <a:moveTo>
                    <a:pt x="0" y="0"/>
                  </a:moveTo>
                  <a:lnTo>
                    <a:pt x="1842400" y="0"/>
                  </a:lnTo>
                  <a:lnTo>
                    <a:pt x="1842400" y="1153600"/>
                  </a:lnTo>
                  <a:lnTo>
                    <a:pt x="0" y="1153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123825"/>
              <a:ext cx="1842400" cy="10297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528"/>
                </a:lnSpc>
              </a:pPr>
              <a:r>
                <a:rPr lang="en-US" b="true" sz="42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04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199180" y="3703776"/>
            <a:ext cx="1381800" cy="865200"/>
            <a:chOff x="0" y="0"/>
            <a:chExt cx="1842400" cy="11536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842400" cy="1153600"/>
            </a:xfrm>
            <a:custGeom>
              <a:avLst/>
              <a:gdLst/>
              <a:ahLst/>
              <a:cxnLst/>
              <a:rect r="r" b="b" t="t" l="l"/>
              <a:pathLst>
                <a:path h="1153600" w="1842400">
                  <a:moveTo>
                    <a:pt x="0" y="0"/>
                  </a:moveTo>
                  <a:lnTo>
                    <a:pt x="1842400" y="0"/>
                  </a:lnTo>
                  <a:lnTo>
                    <a:pt x="1842400" y="1153600"/>
                  </a:lnTo>
                  <a:lnTo>
                    <a:pt x="0" y="1153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123825"/>
              <a:ext cx="1842400" cy="10297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528"/>
                </a:lnSpc>
              </a:pPr>
              <a:r>
                <a:rPr lang="en-US" b="true" sz="42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06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2705577" y="2673160"/>
            <a:ext cx="629175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Obj</a:t>
            </a: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ectif du projet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691530" y="5989019"/>
            <a:ext cx="629175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Conception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595027" y="3735238"/>
            <a:ext cx="629175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Tableau de bord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309730" y="2641684"/>
            <a:ext cx="1381800" cy="865200"/>
            <a:chOff x="0" y="0"/>
            <a:chExt cx="1842400" cy="11536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842400" cy="1153600"/>
            </a:xfrm>
            <a:custGeom>
              <a:avLst/>
              <a:gdLst/>
              <a:ahLst/>
              <a:cxnLst/>
              <a:rect r="r" b="b" t="t" l="l"/>
              <a:pathLst>
                <a:path h="1153600" w="1842400">
                  <a:moveTo>
                    <a:pt x="0" y="0"/>
                  </a:moveTo>
                  <a:lnTo>
                    <a:pt x="1842400" y="0"/>
                  </a:lnTo>
                  <a:lnTo>
                    <a:pt x="1842400" y="1153600"/>
                  </a:lnTo>
                  <a:lnTo>
                    <a:pt x="0" y="1153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123825"/>
              <a:ext cx="1842400" cy="10297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528"/>
                </a:lnSpc>
              </a:pPr>
              <a:r>
                <a:rPr lang="en-US" b="true" sz="42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01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20916075" y="5529506"/>
            <a:ext cx="3790950" cy="1195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This is the title of this section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309730" y="3703764"/>
            <a:ext cx="1381800" cy="865200"/>
            <a:chOff x="0" y="0"/>
            <a:chExt cx="1842400" cy="11536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842400" cy="1153600"/>
            </a:xfrm>
            <a:custGeom>
              <a:avLst/>
              <a:gdLst/>
              <a:ahLst/>
              <a:cxnLst/>
              <a:rect r="r" b="b" t="t" l="l"/>
              <a:pathLst>
                <a:path h="1153600" w="1842400">
                  <a:moveTo>
                    <a:pt x="0" y="0"/>
                  </a:moveTo>
                  <a:lnTo>
                    <a:pt x="1842400" y="0"/>
                  </a:lnTo>
                  <a:lnTo>
                    <a:pt x="1842400" y="1153600"/>
                  </a:lnTo>
                  <a:lnTo>
                    <a:pt x="0" y="1153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123825"/>
              <a:ext cx="1842400" cy="10297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528"/>
                </a:lnSpc>
              </a:pPr>
              <a:r>
                <a:rPr lang="en-US" b="true" sz="42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02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9199180" y="5708756"/>
            <a:ext cx="1381800" cy="865200"/>
            <a:chOff x="0" y="0"/>
            <a:chExt cx="1842400" cy="1153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842400" cy="1153600"/>
            </a:xfrm>
            <a:custGeom>
              <a:avLst/>
              <a:gdLst/>
              <a:ahLst/>
              <a:cxnLst/>
              <a:rect r="r" b="b" t="t" l="l"/>
              <a:pathLst>
                <a:path h="1153600" w="1842400">
                  <a:moveTo>
                    <a:pt x="0" y="0"/>
                  </a:moveTo>
                  <a:lnTo>
                    <a:pt x="1842400" y="0"/>
                  </a:lnTo>
                  <a:lnTo>
                    <a:pt x="1842400" y="1153600"/>
                  </a:lnTo>
                  <a:lnTo>
                    <a:pt x="0" y="1153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123825"/>
              <a:ext cx="1842400" cy="10297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528"/>
                </a:lnSpc>
              </a:pPr>
              <a:r>
                <a:rPr lang="en-US" b="true" sz="42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08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20916063" y="7333697"/>
            <a:ext cx="902550" cy="587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b="true" sz="36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08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705577" y="3735238"/>
            <a:ext cx="629175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Pr</a:t>
            </a: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oblématique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0916075" y="8075096"/>
            <a:ext cx="3790950" cy="1195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This is the title of this section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309730" y="4765790"/>
            <a:ext cx="1381800" cy="865200"/>
            <a:chOff x="0" y="0"/>
            <a:chExt cx="1842400" cy="11536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842400" cy="1153600"/>
            </a:xfrm>
            <a:custGeom>
              <a:avLst/>
              <a:gdLst/>
              <a:ahLst/>
              <a:cxnLst/>
              <a:rect r="r" b="b" t="t" l="l"/>
              <a:pathLst>
                <a:path h="1153600" w="1842400">
                  <a:moveTo>
                    <a:pt x="0" y="0"/>
                  </a:moveTo>
                  <a:lnTo>
                    <a:pt x="1842400" y="0"/>
                  </a:lnTo>
                  <a:lnTo>
                    <a:pt x="1842400" y="1153600"/>
                  </a:lnTo>
                  <a:lnTo>
                    <a:pt x="0" y="1153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123825"/>
              <a:ext cx="1842400" cy="10297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528"/>
                </a:lnSpc>
              </a:pPr>
              <a:r>
                <a:rPr lang="en-US" b="true" sz="42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03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2705577" y="4797260"/>
            <a:ext cx="629175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</a:t>
            </a: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olution proposée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199180" y="2641696"/>
            <a:ext cx="1381800" cy="865200"/>
            <a:chOff x="0" y="0"/>
            <a:chExt cx="1842400" cy="11536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842400" cy="1153600"/>
            </a:xfrm>
            <a:custGeom>
              <a:avLst/>
              <a:gdLst/>
              <a:ahLst/>
              <a:cxnLst/>
              <a:rect r="r" b="b" t="t" l="l"/>
              <a:pathLst>
                <a:path h="1153600" w="1842400">
                  <a:moveTo>
                    <a:pt x="0" y="0"/>
                  </a:moveTo>
                  <a:lnTo>
                    <a:pt x="1842400" y="0"/>
                  </a:lnTo>
                  <a:lnTo>
                    <a:pt x="1842400" y="1153600"/>
                  </a:lnTo>
                  <a:lnTo>
                    <a:pt x="0" y="1153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123825"/>
              <a:ext cx="1842400" cy="10297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528"/>
                </a:lnSpc>
              </a:pPr>
              <a:r>
                <a:rPr lang="en-US" b="true" sz="42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05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10580980" y="2797761"/>
            <a:ext cx="7256703" cy="1453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</a:pPr>
            <a:r>
              <a:rPr lang="en-US" sz="31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Authentification (Connexion)</a:t>
            </a:r>
          </a:p>
          <a:p>
            <a:pPr algn="l">
              <a:lnSpc>
                <a:spcPts val="3780"/>
              </a:lnSpc>
            </a:pPr>
          </a:p>
          <a:p>
            <a:pPr algn="l">
              <a:lnSpc>
                <a:spcPts val="3780"/>
              </a:lnSpc>
            </a:pPr>
          </a:p>
        </p:txBody>
      </p:sp>
      <p:grpSp>
        <p:nvGrpSpPr>
          <p:cNvPr name="Group 36" id="36"/>
          <p:cNvGrpSpPr/>
          <p:nvPr/>
        </p:nvGrpSpPr>
        <p:grpSpPr>
          <a:xfrm rot="0">
            <a:off x="9199180" y="4765802"/>
            <a:ext cx="1381800" cy="865200"/>
            <a:chOff x="0" y="0"/>
            <a:chExt cx="1842400" cy="11536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842400" cy="1153600"/>
            </a:xfrm>
            <a:custGeom>
              <a:avLst/>
              <a:gdLst/>
              <a:ahLst/>
              <a:cxnLst/>
              <a:rect r="r" b="b" t="t" l="l"/>
              <a:pathLst>
                <a:path h="1153600" w="1842400">
                  <a:moveTo>
                    <a:pt x="0" y="0"/>
                  </a:moveTo>
                  <a:lnTo>
                    <a:pt x="1842400" y="0"/>
                  </a:lnTo>
                  <a:lnTo>
                    <a:pt x="1842400" y="1153600"/>
                  </a:lnTo>
                  <a:lnTo>
                    <a:pt x="0" y="1153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123825"/>
              <a:ext cx="1842400" cy="10297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528"/>
                </a:lnSpc>
              </a:pPr>
              <a:r>
                <a:rPr lang="en-US" b="true" sz="42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07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595027" y="4797260"/>
            <a:ext cx="629175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G</a:t>
            </a: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estion des employés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30074" y="5799295"/>
            <a:ext cx="629175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G</a:t>
            </a: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estion des congés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9199180" y="6659932"/>
            <a:ext cx="1381800" cy="865200"/>
            <a:chOff x="0" y="0"/>
            <a:chExt cx="1842400" cy="11536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842400" cy="1153600"/>
            </a:xfrm>
            <a:custGeom>
              <a:avLst/>
              <a:gdLst/>
              <a:ahLst/>
              <a:cxnLst/>
              <a:rect r="r" b="b" t="t" l="l"/>
              <a:pathLst>
                <a:path h="1153600" w="1842400">
                  <a:moveTo>
                    <a:pt x="0" y="0"/>
                  </a:moveTo>
                  <a:lnTo>
                    <a:pt x="1842400" y="0"/>
                  </a:lnTo>
                  <a:lnTo>
                    <a:pt x="1842400" y="1153600"/>
                  </a:lnTo>
                  <a:lnTo>
                    <a:pt x="0" y="1153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123825"/>
              <a:ext cx="1842400" cy="10297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528"/>
                </a:lnSpc>
              </a:pPr>
              <a:r>
                <a:rPr lang="en-US" b="true" sz="42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09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10430074" y="6821069"/>
            <a:ext cx="629175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G</a:t>
            </a:r>
            <a:r>
              <a:rPr lang="en-US" sz="3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estion de la paie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-10800000">
            <a:off x="0" y="0"/>
            <a:ext cx="18287942" cy="10287000"/>
            <a:chOff x="0" y="0"/>
            <a:chExt cx="24383923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87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873">
                  <a:moveTo>
                    <a:pt x="0" y="0"/>
                  </a:moveTo>
                  <a:lnTo>
                    <a:pt x="24383873" y="0"/>
                  </a:lnTo>
                  <a:lnTo>
                    <a:pt x="2438387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AutoShape 4" id="4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3232325" y="4504423"/>
            <a:ext cx="4160184" cy="4114800"/>
          </a:xfrm>
          <a:custGeom>
            <a:avLst/>
            <a:gdLst/>
            <a:ahLst/>
            <a:cxnLst/>
            <a:rect r="r" b="b" t="t" l="l"/>
            <a:pathLst>
              <a:path h="4114800" w="4160184">
                <a:moveTo>
                  <a:pt x="0" y="0"/>
                </a:moveTo>
                <a:lnTo>
                  <a:pt x="4160184" y="0"/>
                </a:lnTo>
                <a:lnTo>
                  <a:pt x="416018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655175" y="2901850"/>
            <a:ext cx="11577150" cy="6305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5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Object</a:t>
            </a:r>
            <a:r>
              <a:rPr lang="en-US" sz="5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if du projet :</a:t>
            </a:r>
          </a:p>
          <a:p>
            <a:pPr algn="l">
              <a:lnSpc>
                <a:spcPts val="4367"/>
              </a:lnSpc>
            </a:pPr>
          </a:p>
          <a:p>
            <a:pPr algn="l">
              <a:lnSpc>
                <a:spcPts val="3276"/>
              </a:lnSpc>
            </a:pPr>
            <a:r>
              <a:rPr lang="en-US" sz="39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Concevoir une application web permettant de gérer          </a:t>
            </a:r>
          </a:p>
          <a:p>
            <a:pPr algn="l">
              <a:lnSpc>
                <a:spcPts val="3276"/>
              </a:lnSpc>
            </a:pPr>
          </a:p>
          <a:p>
            <a:pPr algn="l">
              <a:lnSpc>
                <a:spcPts val="3276"/>
              </a:lnSpc>
            </a:pPr>
            <a:r>
              <a:rPr lang="en-US" sz="39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efficacement :</a:t>
            </a:r>
          </a:p>
          <a:p>
            <a:pPr algn="l">
              <a:lnSpc>
                <a:spcPts val="3276"/>
              </a:lnSpc>
            </a:pPr>
          </a:p>
          <a:p>
            <a:pPr algn="l" marL="863606" indent="-431803" lvl="1">
              <a:lnSpc>
                <a:spcPts val="3360"/>
              </a:lnSpc>
              <a:buFont typeface="Arial"/>
              <a:buChar char="•"/>
            </a:pPr>
            <a:r>
              <a:rPr lang="en-US" sz="40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les employés</a:t>
            </a:r>
          </a:p>
          <a:p>
            <a:pPr algn="l">
              <a:lnSpc>
                <a:spcPts val="3360"/>
              </a:lnSpc>
            </a:pPr>
          </a:p>
          <a:p>
            <a:pPr algn="l" marL="863606" indent="-431803" lvl="1">
              <a:lnSpc>
                <a:spcPts val="3360"/>
              </a:lnSpc>
              <a:buFont typeface="Arial"/>
              <a:buChar char="•"/>
            </a:pPr>
            <a:r>
              <a:rPr lang="en-US" sz="40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les congés</a:t>
            </a:r>
          </a:p>
          <a:p>
            <a:pPr algn="l">
              <a:lnSpc>
                <a:spcPts val="3360"/>
              </a:lnSpc>
            </a:pPr>
          </a:p>
          <a:p>
            <a:pPr algn="l" marL="863606" indent="-431803" lvl="1">
              <a:lnSpc>
                <a:spcPts val="3360"/>
              </a:lnSpc>
              <a:buFont typeface="Arial"/>
              <a:buChar char="•"/>
            </a:pPr>
            <a:r>
              <a:rPr lang="en-US" sz="40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paie</a:t>
            </a:r>
          </a:p>
          <a:p>
            <a:pPr algn="l">
              <a:lnSpc>
                <a:spcPts val="3360"/>
              </a:lnSpc>
            </a:pPr>
          </a:p>
          <a:p>
            <a:pPr algn="l" marL="863606" indent="-431803" lvl="1">
              <a:lnSpc>
                <a:spcPts val="3360"/>
              </a:lnSpc>
              <a:buFont typeface="Arial"/>
              <a:buChar char="•"/>
            </a:pPr>
            <a:r>
              <a:rPr lang="en-US" sz="40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et les opérations RH courantes</a:t>
            </a:r>
          </a:p>
          <a:p>
            <a:pPr algn="l">
              <a:lnSpc>
                <a:spcPts val="4368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-10800000">
            <a:off x="-9525" y="0"/>
            <a:ext cx="18287942" cy="10287000"/>
            <a:chOff x="0" y="0"/>
            <a:chExt cx="24383923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87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873">
                  <a:moveTo>
                    <a:pt x="0" y="0"/>
                  </a:moveTo>
                  <a:lnTo>
                    <a:pt x="24383873" y="0"/>
                  </a:lnTo>
                  <a:lnTo>
                    <a:pt x="2438387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AutoShape 4" id="4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1655175" y="2901850"/>
            <a:ext cx="11577150" cy="4981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5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Problématique</a:t>
            </a:r>
          </a:p>
          <a:p>
            <a:pPr algn="l">
              <a:lnSpc>
                <a:spcPts val="4367"/>
              </a:lnSpc>
            </a:pPr>
          </a:p>
          <a:p>
            <a:pPr algn="l">
              <a:lnSpc>
                <a:spcPts val="3696"/>
              </a:lnSpc>
            </a:pPr>
            <a:r>
              <a:rPr lang="en-US" sz="44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Dans de nombreuses organisations :</a:t>
            </a:r>
          </a:p>
          <a:p>
            <a:pPr algn="l">
              <a:lnSpc>
                <a:spcPts val="4367"/>
              </a:lnSpc>
            </a:pPr>
          </a:p>
          <a:p>
            <a:pPr algn="l" marL="734069" indent="-367035" lvl="1">
              <a:lnSpc>
                <a:spcPts val="2856"/>
              </a:lnSpc>
              <a:buFont typeface="Arial"/>
              <a:buChar char="•"/>
            </a:pPr>
            <a:r>
              <a:rPr lang="en-US" sz="34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gestion RH est encore manuelle ou dispersée</a:t>
            </a:r>
          </a:p>
          <a:p>
            <a:pPr algn="l">
              <a:lnSpc>
                <a:spcPts val="2856"/>
              </a:lnSpc>
            </a:pPr>
          </a:p>
          <a:p>
            <a:pPr algn="l" marL="734069" indent="-367035" lvl="1">
              <a:lnSpc>
                <a:spcPts val="2856"/>
              </a:lnSpc>
              <a:buFont typeface="Arial"/>
              <a:buChar char="•"/>
            </a:pPr>
            <a:r>
              <a:rPr lang="en-US" sz="34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les données sont difficiles à centraliser</a:t>
            </a:r>
          </a:p>
          <a:p>
            <a:pPr algn="l">
              <a:lnSpc>
                <a:spcPts val="2856"/>
              </a:lnSpc>
            </a:pPr>
          </a:p>
          <a:p>
            <a:pPr algn="l" marL="734069" indent="-367035" lvl="1">
              <a:lnSpc>
                <a:spcPts val="2856"/>
              </a:lnSpc>
              <a:buFont typeface="Arial"/>
              <a:buChar char="•"/>
            </a:pPr>
            <a:r>
              <a:rPr lang="en-US" sz="34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le suivi des congés et de la paie est source d’erreurs</a:t>
            </a:r>
          </a:p>
          <a:p>
            <a:pPr algn="l">
              <a:lnSpc>
                <a:spcPts val="3360"/>
              </a:lnSpc>
            </a:pPr>
          </a:p>
          <a:p>
            <a:pPr algn="l">
              <a:lnSpc>
                <a:spcPts val="4368"/>
              </a:lnSpc>
            </a:pP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2563246" y="2739925"/>
            <a:ext cx="5112017" cy="4114800"/>
          </a:xfrm>
          <a:custGeom>
            <a:avLst/>
            <a:gdLst/>
            <a:ahLst/>
            <a:cxnLst/>
            <a:rect r="r" b="b" t="t" l="l"/>
            <a:pathLst>
              <a:path h="4114800" w="5112017">
                <a:moveTo>
                  <a:pt x="0" y="0"/>
                </a:moveTo>
                <a:lnTo>
                  <a:pt x="5112017" y="0"/>
                </a:lnTo>
                <a:lnTo>
                  <a:pt x="511201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-10800000">
            <a:off x="-19050" y="0"/>
            <a:ext cx="18287942" cy="10287000"/>
            <a:chOff x="0" y="0"/>
            <a:chExt cx="24383923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87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873">
                  <a:moveTo>
                    <a:pt x="0" y="0"/>
                  </a:moveTo>
                  <a:lnTo>
                    <a:pt x="24383873" y="0"/>
                  </a:lnTo>
                  <a:lnTo>
                    <a:pt x="2438387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AutoShape 4" id="4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2197289" y="3453829"/>
            <a:ext cx="4695311" cy="4114800"/>
          </a:xfrm>
          <a:custGeom>
            <a:avLst/>
            <a:gdLst/>
            <a:ahLst/>
            <a:cxnLst/>
            <a:rect r="r" b="b" t="t" l="l"/>
            <a:pathLst>
              <a:path h="4114800" w="4695311">
                <a:moveTo>
                  <a:pt x="0" y="0"/>
                </a:moveTo>
                <a:lnTo>
                  <a:pt x="4695311" y="0"/>
                </a:lnTo>
                <a:lnTo>
                  <a:pt x="469531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655175" y="2901850"/>
            <a:ext cx="11577150" cy="54723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367"/>
              </a:lnSpc>
            </a:pPr>
            <a:r>
              <a:rPr lang="en-US" sz="5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Solution proposée</a:t>
            </a:r>
          </a:p>
          <a:p>
            <a:pPr algn="just">
              <a:lnSpc>
                <a:spcPts val="4367"/>
              </a:lnSpc>
            </a:pPr>
          </a:p>
          <a:p>
            <a:pPr algn="just">
              <a:lnSpc>
                <a:spcPts val="3276"/>
              </a:lnSpc>
            </a:pPr>
            <a:r>
              <a:rPr lang="en-US" sz="39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Système GRH – Application Web</a:t>
            </a:r>
          </a:p>
          <a:p>
            <a:pPr algn="just">
              <a:lnSpc>
                <a:spcPts val="3276"/>
              </a:lnSpc>
            </a:pPr>
          </a:p>
          <a:p>
            <a:pPr algn="just">
              <a:lnSpc>
                <a:spcPts val="3192"/>
              </a:lnSpc>
            </a:pPr>
            <a:r>
              <a:rPr lang="en-US" sz="38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Notre solution permet :</a:t>
            </a:r>
          </a:p>
          <a:p>
            <a:pPr algn="just">
              <a:lnSpc>
                <a:spcPts val="3192"/>
              </a:lnSpc>
            </a:pPr>
          </a:p>
          <a:p>
            <a:pPr algn="just" marL="647711" indent="-323856" lvl="1">
              <a:lnSpc>
                <a:spcPts val="252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une gestion centralisée des employés</a:t>
            </a:r>
          </a:p>
          <a:p>
            <a:pPr algn="just">
              <a:lnSpc>
                <a:spcPts val="2520"/>
              </a:lnSpc>
            </a:pPr>
          </a:p>
          <a:p>
            <a:pPr algn="just" marL="647711" indent="-323856" lvl="1">
              <a:lnSpc>
                <a:spcPts val="252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le suivi des congés en temps réel</a:t>
            </a:r>
          </a:p>
          <a:p>
            <a:pPr algn="just">
              <a:lnSpc>
                <a:spcPts val="2520"/>
              </a:lnSpc>
            </a:pPr>
          </a:p>
          <a:p>
            <a:pPr algn="just" marL="647711" indent="-323856" lvl="1">
              <a:lnSpc>
                <a:spcPts val="252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génération des fiches de paie</a:t>
            </a:r>
          </a:p>
          <a:p>
            <a:pPr algn="just">
              <a:lnSpc>
                <a:spcPts val="2520"/>
              </a:lnSpc>
            </a:pPr>
          </a:p>
          <a:p>
            <a:pPr algn="just" marL="647711" indent="-323856" lvl="1">
              <a:lnSpc>
                <a:spcPts val="252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tableau de bord synthétique pour la prise de décision</a:t>
            </a:r>
          </a:p>
          <a:p>
            <a:pPr algn="l">
              <a:lnSpc>
                <a:spcPts val="3864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065989" y="1953932"/>
            <a:ext cx="3565817" cy="8043858"/>
          </a:xfrm>
          <a:custGeom>
            <a:avLst/>
            <a:gdLst/>
            <a:ahLst/>
            <a:cxnLst/>
            <a:rect r="r" b="b" t="t" l="l"/>
            <a:pathLst>
              <a:path h="8043858" w="3565817">
                <a:moveTo>
                  <a:pt x="0" y="0"/>
                </a:moveTo>
                <a:lnTo>
                  <a:pt x="3565817" y="0"/>
                </a:lnTo>
                <a:lnTo>
                  <a:pt x="3565817" y="8043859"/>
                </a:lnTo>
                <a:lnTo>
                  <a:pt x="0" y="8043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4" r="0" b="-30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548779" y="2031724"/>
            <a:ext cx="4688694" cy="7888274"/>
          </a:xfrm>
          <a:custGeom>
            <a:avLst/>
            <a:gdLst/>
            <a:ahLst/>
            <a:cxnLst/>
            <a:rect r="r" b="b" t="t" l="l"/>
            <a:pathLst>
              <a:path h="7888274" w="4688694">
                <a:moveTo>
                  <a:pt x="0" y="0"/>
                </a:moveTo>
                <a:lnTo>
                  <a:pt x="4688693" y="0"/>
                </a:lnTo>
                <a:lnTo>
                  <a:pt x="4688693" y="7888275"/>
                </a:lnTo>
                <a:lnTo>
                  <a:pt x="0" y="78882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71445" y="759663"/>
            <a:ext cx="9196917" cy="628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5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Conception (cas d’utilisation)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6506522" y="597737"/>
            <a:ext cx="11223648" cy="9689263"/>
          </a:xfrm>
          <a:custGeom>
            <a:avLst/>
            <a:gdLst/>
            <a:ahLst/>
            <a:cxnLst/>
            <a:rect r="r" b="b" t="t" l="l"/>
            <a:pathLst>
              <a:path h="9689263" w="11223648">
                <a:moveTo>
                  <a:pt x="0" y="0"/>
                </a:moveTo>
                <a:lnTo>
                  <a:pt x="11223648" y="0"/>
                </a:lnTo>
                <a:lnTo>
                  <a:pt x="11223648" y="9689263"/>
                </a:lnTo>
                <a:lnTo>
                  <a:pt x="0" y="96892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435" r="0" b="-2209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62175" y="1307550"/>
            <a:ext cx="5417815" cy="17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8"/>
              </a:lnSpc>
            </a:pPr>
            <a:r>
              <a:rPr lang="en-US" sz="5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Diagramme des classes (Système GRH)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413275" y="1423797"/>
            <a:ext cx="12625033" cy="8663929"/>
          </a:xfrm>
          <a:custGeom>
            <a:avLst/>
            <a:gdLst/>
            <a:ahLst/>
            <a:cxnLst/>
            <a:rect r="r" b="b" t="t" l="l"/>
            <a:pathLst>
              <a:path h="8663929" w="12625033">
                <a:moveTo>
                  <a:pt x="0" y="0"/>
                </a:moveTo>
                <a:lnTo>
                  <a:pt x="12625033" y="0"/>
                </a:lnTo>
                <a:lnTo>
                  <a:pt x="12625033" y="8663929"/>
                </a:lnTo>
                <a:lnTo>
                  <a:pt x="0" y="86639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26377" y="795528"/>
            <a:ext cx="18234018" cy="628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8"/>
              </a:lnSpc>
            </a:pPr>
            <a:r>
              <a:rPr lang="en-US" sz="5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Diagramme de séquence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1423797"/>
            <a:ext cx="15254053" cy="8771080"/>
          </a:xfrm>
          <a:custGeom>
            <a:avLst/>
            <a:gdLst/>
            <a:ahLst/>
            <a:cxnLst/>
            <a:rect r="r" b="b" t="t" l="l"/>
            <a:pathLst>
              <a:path h="8771080" w="15254053">
                <a:moveTo>
                  <a:pt x="0" y="0"/>
                </a:moveTo>
                <a:lnTo>
                  <a:pt x="15254053" y="0"/>
                </a:lnTo>
                <a:lnTo>
                  <a:pt x="15254053" y="8771080"/>
                </a:lnTo>
                <a:lnTo>
                  <a:pt x="0" y="87710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26377" y="795528"/>
            <a:ext cx="18234018" cy="628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8"/>
              </a:lnSpc>
            </a:pPr>
            <a:r>
              <a:rPr lang="en-US" sz="5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Diagramme de séquence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5771455" y="97826"/>
            <a:ext cx="11678137" cy="10189174"/>
          </a:xfrm>
          <a:custGeom>
            <a:avLst/>
            <a:gdLst/>
            <a:ahLst/>
            <a:cxnLst/>
            <a:rect r="r" b="b" t="t" l="l"/>
            <a:pathLst>
              <a:path h="10189174" w="11678137">
                <a:moveTo>
                  <a:pt x="0" y="0"/>
                </a:moveTo>
                <a:lnTo>
                  <a:pt x="11678136" y="0"/>
                </a:lnTo>
                <a:lnTo>
                  <a:pt x="11678136" y="10189174"/>
                </a:lnTo>
                <a:lnTo>
                  <a:pt x="0" y="101891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78429" y="3216867"/>
            <a:ext cx="18234018" cy="1733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5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Diagramme </a:t>
            </a:r>
          </a:p>
          <a:p>
            <a:pPr algn="l">
              <a:lnSpc>
                <a:spcPts val="4367"/>
              </a:lnSpc>
            </a:pPr>
            <a:r>
              <a:rPr lang="en-US" sz="51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de</a:t>
            </a:r>
          </a:p>
          <a:p>
            <a:pPr algn="l">
              <a:lnSpc>
                <a:spcPts val="4368"/>
              </a:lnSpc>
            </a:pPr>
            <a:r>
              <a:rPr lang="en-US" sz="5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séquence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-10800000">
            <a:off x="5566108" y="2134774"/>
            <a:ext cx="11945392" cy="6719304"/>
            <a:chOff x="0" y="0"/>
            <a:chExt cx="24383923" cy="13716000"/>
          </a:xfrm>
        </p:grpSpPr>
        <p:sp>
          <p:nvSpPr>
            <p:cNvPr name="Freeform 3" id="3"/>
            <p:cNvSpPr/>
            <p:nvPr/>
          </p:nvSpPr>
          <p:spPr>
            <a:xfrm flipH="true" flipV="true" rot="0">
              <a:off x="0" y="0"/>
              <a:ext cx="2438387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873">
                  <a:moveTo>
                    <a:pt x="24383873" y="13716000"/>
                  </a:moveTo>
                  <a:lnTo>
                    <a:pt x="0" y="13716000"/>
                  </a:lnTo>
                  <a:lnTo>
                    <a:pt x="0" y="0"/>
                  </a:lnTo>
                  <a:lnTo>
                    <a:pt x="24383873" y="0"/>
                  </a:lnTo>
                  <a:lnTo>
                    <a:pt x="24383873" y="13716000"/>
                  </a:lnTo>
                  <a:close/>
                </a:path>
              </a:pathLst>
            </a:custGeom>
            <a:blipFill>
              <a:blip r:embed="rId3"/>
              <a:stretch>
                <a:fillRect l="-52079" t="0" r="-52079" b="0"/>
              </a:stretch>
            </a:blipFill>
          </p:spPr>
        </p:sp>
      </p:grpSp>
      <p:sp>
        <p:nvSpPr>
          <p:cNvPr name="AutoShape 4" id="4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876996" y="4695947"/>
            <a:ext cx="520395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l</a:t>
            </a: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ancement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-10800000">
            <a:off x="5566108" y="2134774"/>
            <a:ext cx="11945392" cy="6719304"/>
            <a:chOff x="0" y="0"/>
            <a:chExt cx="24383923" cy="13716000"/>
          </a:xfrm>
        </p:grpSpPr>
        <p:sp>
          <p:nvSpPr>
            <p:cNvPr name="Freeform 3" id="3"/>
            <p:cNvSpPr/>
            <p:nvPr/>
          </p:nvSpPr>
          <p:spPr>
            <a:xfrm flipH="true" flipV="true" rot="0">
              <a:off x="0" y="0"/>
              <a:ext cx="2438387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873">
                  <a:moveTo>
                    <a:pt x="24383873" y="13716000"/>
                  </a:moveTo>
                  <a:lnTo>
                    <a:pt x="0" y="13716000"/>
                  </a:lnTo>
                  <a:lnTo>
                    <a:pt x="0" y="0"/>
                  </a:lnTo>
                  <a:lnTo>
                    <a:pt x="24383873" y="0"/>
                  </a:lnTo>
                  <a:lnTo>
                    <a:pt x="24383873" y="13716000"/>
                  </a:lnTo>
                  <a:close/>
                </a:path>
              </a:pathLst>
            </a:custGeom>
            <a:blipFill>
              <a:blip r:embed="rId3"/>
              <a:stretch>
                <a:fillRect l="-26201" t="0" r="-26201" b="0"/>
              </a:stretch>
            </a:blipFill>
          </p:spPr>
        </p:sp>
      </p:grpSp>
      <p:sp>
        <p:nvSpPr>
          <p:cNvPr name="AutoShape 4" id="4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876996" y="4695947"/>
            <a:ext cx="520395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connexion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741624" y="3464150"/>
            <a:ext cx="12804752" cy="5794150"/>
          </a:xfrm>
          <a:custGeom>
            <a:avLst/>
            <a:gdLst/>
            <a:ahLst/>
            <a:cxnLst/>
            <a:rect r="r" b="b" t="t" l="l"/>
            <a:pathLst>
              <a:path h="5794150" w="12804752">
                <a:moveTo>
                  <a:pt x="0" y="0"/>
                </a:moveTo>
                <a:lnTo>
                  <a:pt x="12804752" y="0"/>
                </a:lnTo>
                <a:lnTo>
                  <a:pt x="12804752" y="5794150"/>
                </a:lnTo>
                <a:lnTo>
                  <a:pt x="0" y="57941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077605" y="2015508"/>
            <a:ext cx="520395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tabl</a:t>
            </a: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eau de bord 1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413275" y="3065983"/>
            <a:ext cx="13996029" cy="6420678"/>
          </a:xfrm>
          <a:custGeom>
            <a:avLst/>
            <a:gdLst/>
            <a:ahLst/>
            <a:cxnLst/>
            <a:rect r="r" b="b" t="t" l="l"/>
            <a:pathLst>
              <a:path h="6420678" w="13996029">
                <a:moveTo>
                  <a:pt x="0" y="0"/>
                </a:moveTo>
                <a:lnTo>
                  <a:pt x="13996029" y="0"/>
                </a:lnTo>
                <a:lnTo>
                  <a:pt x="13996029" y="6420678"/>
                </a:lnTo>
                <a:lnTo>
                  <a:pt x="0" y="64206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077605" y="2015508"/>
            <a:ext cx="520395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tabl</a:t>
            </a: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eau de bord 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650064" y="3736097"/>
            <a:ext cx="13457222" cy="4296498"/>
          </a:xfrm>
          <a:custGeom>
            <a:avLst/>
            <a:gdLst/>
            <a:ahLst/>
            <a:cxnLst/>
            <a:rect r="r" b="b" t="t" l="l"/>
            <a:pathLst>
              <a:path h="4296498" w="13457222">
                <a:moveTo>
                  <a:pt x="0" y="0"/>
                </a:moveTo>
                <a:lnTo>
                  <a:pt x="13457222" y="0"/>
                </a:lnTo>
                <a:lnTo>
                  <a:pt x="13457222" y="4296499"/>
                </a:lnTo>
                <a:lnTo>
                  <a:pt x="0" y="42964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324502" y="2392440"/>
            <a:ext cx="520395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liste des </a:t>
            </a: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employés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1980411"/>
            <a:ext cx="16777654" cy="7121765"/>
          </a:xfrm>
          <a:custGeom>
            <a:avLst/>
            <a:gdLst/>
            <a:ahLst/>
            <a:cxnLst/>
            <a:rect r="r" b="b" t="t" l="l"/>
            <a:pathLst>
              <a:path h="7121765" w="16777654">
                <a:moveTo>
                  <a:pt x="0" y="0"/>
                </a:moveTo>
                <a:lnTo>
                  <a:pt x="16777654" y="0"/>
                </a:lnTo>
                <a:lnTo>
                  <a:pt x="16777654" y="7121765"/>
                </a:lnTo>
                <a:lnTo>
                  <a:pt x="0" y="71217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542025" y="1207103"/>
            <a:ext cx="520395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nouveau </a:t>
            </a: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employé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3282532"/>
            <a:ext cx="16545550" cy="4644818"/>
          </a:xfrm>
          <a:custGeom>
            <a:avLst/>
            <a:gdLst/>
            <a:ahLst/>
            <a:cxnLst/>
            <a:rect r="r" b="b" t="t" l="l"/>
            <a:pathLst>
              <a:path h="4644818" w="16545550">
                <a:moveTo>
                  <a:pt x="0" y="0"/>
                </a:moveTo>
                <a:lnTo>
                  <a:pt x="16545550" y="0"/>
                </a:lnTo>
                <a:lnTo>
                  <a:pt x="16545550" y="4644819"/>
                </a:lnTo>
                <a:lnTo>
                  <a:pt x="0" y="46448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542025" y="1938481"/>
            <a:ext cx="5203950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gestion des c</a:t>
            </a: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ongés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323009" y="1671851"/>
            <a:ext cx="16541569" cy="7973794"/>
          </a:xfrm>
          <a:custGeom>
            <a:avLst/>
            <a:gdLst/>
            <a:ahLst/>
            <a:cxnLst/>
            <a:rect r="r" b="b" t="t" l="l"/>
            <a:pathLst>
              <a:path h="7973794" w="16541569">
                <a:moveTo>
                  <a:pt x="0" y="0"/>
                </a:moveTo>
                <a:lnTo>
                  <a:pt x="16541569" y="0"/>
                </a:lnTo>
                <a:lnTo>
                  <a:pt x="16541569" y="7973794"/>
                </a:lnTo>
                <a:lnTo>
                  <a:pt x="0" y="7973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1372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230588" y="942975"/>
            <a:ext cx="8406882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nouvelle demande de c</a:t>
            </a: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ongé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273347" y="4243289"/>
            <a:ext cx="16414692" cy="3488122"/>
          </a:xfrm>
          <a:custGeom>
            <a:avLst/>
            <a:gdLst/>
            <a:ahLst/>
            <a:cxnLst/>
            <a:rect r="r" b="b" t="t" l="l"/>
            <a:pathLst>
              <a:path h="3488122" w="16414692">
                <a:moveTo>
                  <a:pt x="0" y="0"/>
                </a:moveTo>
                <a:lnTo>
                  <a:pt x="16414692" y="0"/>
                </a:lnTo>
                <a:lnTo>
                  <a:pt x="16414692" y="3488122"/>
                </a:lnTo>
                <a:lnTo>
                  <a:pt x="0" y="34881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567245" y="2531831"/>
            <a:ext cx="8406882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gestion de paie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759726" y="1924050"/>
            <a:ext cx="16768549" cy="7973794"/>
          </a:xfrm>
          <a:custGeom>
            <a:avLst/>
            <a:gdLst/>
            <a:ahLst/>
            <a:cxnLst/>
            <a:rect r="r" b="b" t="t" l="l"/>
            <a:pathLst>
              <a:path h="7973794" w="16768549">
                <a:moveTo>
                  <a:pt x="0" y="0"/>
                </a:moveTo>
                <a:lnTo>
                  <a:pt x="16768548" y="0"/>
                </a:lnTo>
                <a:lnTo>
                  <a:pt x="16768548" y="7973794"/>
                </a:lnTo>
                <a:lnTo>
                  <a:pt x="0" y="7973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088066" y="942975"/>
            <a:ext cx="8406882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nouvelle fiche de paie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219712" y="3816092"/>
            <a:ext cx="16297180" cy="4718276"/>
          </a:xfrm>
          <a:custGeom>
            <a:avLst/>
            <a:gdLst/>
            <a:ahLst/>
            <a:cxnLst/>
            <a:rect r="r" b="b" t="t" l="l"/>
            <a:pathLst>
              <a:path h="4718276" w="16297180">
                <a:moveTo>
                  <a:pt x="0" y="0"/>
                </a:moveTo>
                <a:lnTo>
                  <a:pt x="16297180" y="0"/>
                </a:lnTo>
                <a:lnTo>
                  <a:pt x="16297180" y="4718275"/>
                </a:lnTo>
                <a:lnTo>
                  <a:pt x="0" y="47182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138506" y="2153532"/>
            <a:ext cx="8406882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Liste des employés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15104" y="2069119"/>
            <a:ext cx="18282421" cy="7189181"/>
          </a:xfrm>
          <a:custGeom>
            <a:avLst/>
            <a:gdLst/>
            <a:ahLst/>
            <a:cxnLst/>
            <a:rect r="r" b="b" t="t" l="l"/>
            <a:pathLst>
              <a:path h="7189181" w="18282421">
                <a:moveTo>
                  <a:pt x="0" y="0"/>
                </a:moveTo>
                <a:lnTo>
                  <a:pt x="18282421" y="0"/>
                </a:lnTo>
                <a:lnTo>
                  <a:pt x="18282421" y="7189181"/>
                </a:lnTo>
                <a:lnTo>
                  <a:pt x="0" y="718918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961966" y="942975"/>
            <a:ext cx="8406882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informations d’employé</a:t>
            </a:r>
          </a:p>
          <a:p>
            <a:pPr algn="l">
              <a:lnSpc>
                <a:spcPts val="3840"/>
              </a:lnSpc>
            </a:pPr>
          </a:p>
          <a:p>
            <a:pPr algn="l">
              <a:lnSpc>
                <a:spcPts val="3840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6772" y="3448038"/>
            <a:ext cx="17858445" cy="5218014"/>
          </a:xfrm>
          <a:custGeom>
            <a:avLst/>
            <a:gdLst/>
            <a:ahLst/>
            <a:cxnLst/>
            <a:rect r="r" b="b" t="t" l="l"/>
            <a:pathLst>
              <a:path h="5218014" w="17858445">
                <a:moveTo>
                  <a:pt x="0" y="0"/>
                </a:moveTo>
                <a:lnTo>
                  <a:pt x="17858446" y="0"/>
                </a:lnTo>
                <a:lnTo>
                  <a:pt x="17858446" y="5218015"/>
                </a:lnTo>
                <a:lnTo>
                  <a:pt x="0" y="5218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709767" y="1926565"/>
            <a:ext cx="8406882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fiche de paie créée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749963" y="1514475"/>
            <a:ext cx="13176522" cy="8534161"/>
          </a:xfrm>
          <a:custGeom>
            <a:avLst/>
            <a:gdLst/>
            <a:ahLst/>
            <a:cxnLst/>
            <a:rect r="r" b="b" t="t" l="l"/>
            <a:pathLst>
              <a:path h="8534161" w="13176522">
                <a:moveTo>
                  <a:pt x="0" y="0"/>
                </a:moveTo>
                <a:lnTo>
                  <a:pt x="13176522" y="0"/>
                </a:lnTo>
                <a:lnTo>
                  <a:pt x="13176522" y="8534161"/>
                </a:lnTo>
                <a:lnTo>
                  <a:pt x="0" y="853416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389415" y="700087"/>
            <a:ext cx="8406882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bulletin de paie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607139" y="3755800"/>
            <a:ext cx="17427810" cy="5002764"/>
          </a:xfrm>
          <a:custGeom>
            <a:avLst/>
            <a:gdLst/>
            <a:ahLst/>
            <a:cxnLst/>
            <a:rect r="r" b="b" t="t" l="l"/>
            <a:pathLst>
              <a:path h="5002764" w="17427810">
                <a:moveTo>
                  <a:pt x="0" y="0"/>
                </a:moveTo>
                <a:lnTo>
                  <a:pt x="17427809" y="0"/>
                </a:lnTo>
                <a:lnTo>
                  <a:pt x="17427809" y="5002764"/>
                </a:lnTo>
                <a:lnTo>
                  <a:pt x="0" y="50027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557157" y="2212750"/>
            <a:ext cx="8406882" cy="154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FFFFFF"/>
                </a:solidFill>
                <a:latin typeface="Agrandir Grand"/>
                <a:ea typeface="Agrandir Grand"/>
                <a:cs typeface="Agrandir Grand"/>
                <a:sym typeface="Agrandir Grand"/>
              </a:rPr>
              <a:t>demande de congé créée</a:t>
            </a:r>
          </a:p>
          <a:p>
            <a:pPr algn="l">
              <a:lnSpc>
                <a:spcPts val="3840"/>
              </a:lnSpc>
            </a:pPr>
          </a:p>
          <a:p>
            <a:pPr algn="l">
              <a:lnSpc>
                <a:spcPts val="3840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-10800000">
            <a:off x="-267836" y="0"/>
            <a:ext cx="18287942" cy="10287000"/>
            <a:chOff x="0" y="0"/>
            <a:chExt cx="24383923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87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873">
                  <a:moveTo>
                    <a:pt x="0" y="0"/>
                  </a:moveTo>
                  <a:lnTo>
                    <a:pt x="24383873" y="0"/>
                  </a:lnTo>
                  <a:lnTo>
                    <a:pt x="2438387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AutoShape 4" id="4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3058949" y="1837443"/>
            <a:ext cx="13725808" cy="6257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81"/>
              </a:lnSpc>
            </a:pPr>
            <a:r>
              <a:rPr lang="en-US" sz="4734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</a:t>
            </a:r>
            <a:r>
              <a:rPr lang="en-US" sz="4734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imites et améliorations fu</a:t>
            </a:r>
            <a:r>
              <a:rPr lang="en-US" sz="4734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tures</a:t>
            </a:r>
          </a:p>
          <a:p>
            <a:pPr algn="l">
              <a:lnSpc>
                <a:spcPts val="5681"/>
              </a:lnSpc>
            </a:pPr>
          </a:p>
          <a:p>
            <a:pPr algn="l">
              <a:lnSpc>
                <a:spcPts val="5081"/>
              </a:lnSpc>
            </a:pPr>
            <a:r>
              <a:rPr lang="en-US" sz="4234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      </a:t>
            </a:r>
            <a:r>
              <a:rPr lang="en-US" sz="4234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Améliorations</a:t>
            </a:r>
            <a:r>
              <a:rPr lang="en-US" sz="4234">
                <a:solidFill>
                  <a:srgbClr val="FFFFFF"/>
                </a:solidFill>
                <a:latin typeface="Pathway Gothic One"/>
                <a:ea typeface="Pathway Gothic One"/>
                <a:cs typeface="Pathway Gothic One"/>
                <a:sym typeface="Pathway Gothic One"/>
              </a:rPr>
              <a:t> possibles :  </a:t>
            </a:r>
          </a:p>
          <a:p>
            <a:pPr algn="l">
              <a:lnSpc>
                <a:spcPts val="5081"/>
              </a:lnSpc>
            </a:pPr>
          </a:p>
          <a:p>
            <a:pPr algn="l">
              <a:lnSpc>
                <a:spcPts val="4241"/>
              </a:lnSpc>
            </a:pPr>
          </a:p>
          <a:p>
            <a:pPr algn="l" marL="763180" indent="-381590" lvl="1">
              <a:lnSpc>
                <a:spcPts val="4241"/>
              </a:lnSpc>
              <a:buFont typeface="Arial"/>
              <a:buChar char="•"/>
            </a:pPr>
            <a:r>
              <a:rPr lang="en-US" sz="3534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Exp</a:t>
            </a:r>
            <a:r>
              <a:rPr lang="en-US" sz="3534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ort PDF des fiches de paie</a:t>
            </a:r>
          </a:p>
          <a:p>
            <a:pPr algn="l">
              <a:lnSpc>
                <a:spcPts val="4241"/>
              </a:lnSpc>
            </a:pPr>
          </a:p>
          <a:p>
            <a:pPr algn="l" marL="763180" indent="-381590" lvl="1">
              <a:lnSpc>
                <a:spcPts val="4241"/>
              </a:lnSpc>
              <a:buFont typeface="Arial"/>
              <a:buChar char="•"/>
            </a:pPr>
            <a:r>
              <a:rPr lang="en-US" sz="3534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Notifications par</a:t>
            </a:r>
            <a:r>
              <a:rPr lang="en-US" sz="3534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email</a:t>
            </a:r>
          </a:p>
          <a:p>
            <a:pPr algn="l">
              <a:lnSpc>
                <a:spcPts val="4241"/>
              </a:lnSpc>
            </a:pPr>
          </a:p>
          <a:p>
            <a:pPr algn="l" marL="763180" indent="-381590" lvl="1">
              <a:lnSpc>
                <a:spcPts val="4241"/>
              </a:lnSpc>
              <a:buFont typeface="Arial"/>
              <a:buChar char="•"/>
            </a:pPr>
            <a:r>
              <a:rPr lang="en-US" sz="3534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Statistiques avancées (turnover, absences)</a:t>
            </a:r>
          </a:p>
          <a:p>
            <a:pPr algn="l" marL="812361" indent="-406181" lvl="1">
              <a:lnSpc>
                <a:spcPts val="2725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33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-10800000">
            <a:off x="0" y="0"/>
            <a:ext cx="18287942" cy="10287000"/>
            <a:chOff x="0" y="0"/>
            <a:chExt cx="24383923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387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873">
                  <a:moveTo>
                    <a:pt x="0" y="0"/>
                  </a:moveTo>
                  <a:lnTo>
                    <a:pt x="24383873" y="0"/>
                  </a:lnTo>
                  <a:lnTo>
                    <a:pt x="2438387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AutoShape 4" id="4"/>
          <p:cNvSpPr/>
          <p:nvPr/>
        </p:nvSpPr>
        <p:spPr>
          <a:xfrm rot="4122">
            <a:off x="2413269" y="602500"/>
            <a:ext cx="15884261" cy="0"/>
          </a:xfrm>
          <a:prstGeom prst="line">
            <a:avLst/>
          </a:prstGeom>
          <a:ln cap="rnd" w="95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4621113" y="4652327"/>
            <a:ext cx="9045773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Merci pour votre Attention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DAG8XHCoSrA</dc:identifier>
  <dcterms:modified xsi:type="dcterms:W3CDTF">2011-08-01T06:04:30Z</dcterms:modified>
  <cp:revision>1</cp:revision>
  <dc:title>Copie de Project Roadmaps by Slidesgo (2).pptx</dc:title>
</cp:coreProperties>
</file>