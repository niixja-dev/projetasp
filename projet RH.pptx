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rimo" charset="1" panose="020B0604020202020204"/>
      <p:regular r:id="rId36"/>
    </p:embeddedFont>
    <p:embeddedFont>
      <p:font typeface="Open Sans" charset="1" panose="020B0606030504020204"/>
      <p:regular r:id="rId37"/>
    </p:embeddedFont>
    <p:embeddedFont>
      <p:font typeface="Arimo Bold" charset="1" panose="020B0704020202020204"/>
      <p:regular r:id="rId39"/>
    </p:embeddedFont>
    <p:embeddedFont>
      <p:font typeface="Agrandir Grand" charset="1" panose="00000507000000000000"/>
      <p:regular r:id="rId49"/>
    </p:embeddedFont>
    <p:embeddedFont>
      <p:font typeface="Glacial Indifference" charset="1" panose="00000000000000000000"/>
      <p:regular r:id="rId65"/>
    </p:embeddedFont>
    <p:embeddedFont>
      <p:font typeface="Pathway Gothic One" charset="1" panose="02000506050000020004"/>
      <p:regular r:id="rId66"/>
    </p:embeddedFont>
    <p:embeddedFont>
      <p:font typeface="Open Sans Bold" charset="1" panose="020B0806030504020204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2.xml" Type="http://schemas.openxmlformats.org/officeDocument/2006/relationships/notesSlide"/><Relationship Id="rId61" Target="notesSlides/notesSlide23.xml" Type="http://schemas.openxmlformats.org/officeDocument/2006/relationships/notesSlide"/><Relationship Id="rId62" Target="notesSlides/notesSlide24.xml" Type="http://schemas.openxmlformats.org/officeDocument/2006/relationships/notesSlide"/><Relationship Id="rId63" Target="notesSlides/notesSlide25.xml" Type="http://schemas.openxmlformats.org/officeDocument/2006/relationships/notesSlide"/><Relationship Id="rId64" Target="notesSlides/notesSlide26.xml" Type="http://schemas.openxmlformats.org/officeDocument/2006/relationships/notesSlide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notesSlides/notesSlide27.xml" Type="http://schemas.openxmlformats.org/officeDocument/2006/relationships/notesSlide"/><Relationship Id="rId68" Target="fonts/font68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-9531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140100" y="2946276"/>
            <a:ext cx="12007800" cy="4532268"/>
            <a:chOff x="0" y="0"/>
            <a:chExt cx="16010400" cy="6043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10399" cy="6043025"/>
            </a:xfrm>
            <a:custGeom>
              <a:avLst/>
              <a:gdLst/>
              <a:ahLst/>
              <a:cxnLst/>
              <a:rect r="r" b="b" t="t" l="l"/>
              <a:pathLst>
                <a:path h="6043025" w="16010399">
                  <a:moveTo>
                    <a:pt x="0" y="0"/>
                  </a:moveTo>
                  <a:lnTo>
                    <a:pt x="16010399" y="0"/>
                  </a:lnTo>
                  <a:lnTo>
                    <a:pt x="16010399" y="6043025"/>
                  </a:lnTo>
                  <a:lnTo>
                    <a:pt x="0" y="6043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47675"/>
              <a:ext cx="16010400" cy="559534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264"/>
                </a:lnSpc>
              </a:pPr>
              <a:r>
                <a:rPr lang="en-US" sz="146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SYSTEM DE GESTION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80171" y="6694297"/>
            <a:ext cx="86263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ressources humaines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427" y="619931"/>
            <a:ext cx="15422987" cy="49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sz="31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Projet realisé par: CHENTOUFI EL ALAMI Hamza &amp; ELOUEDRHIIRI Abdelbadii 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365401" y="0"/>
            <a:ext cx="18624701" cy="10476427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-9531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-4409146" y="1191219"/>
            <a:ext cx="7738876" cy="74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23"/>
              </a:lnSpc>
            </a:pPr>
            <a:r>
              <a:rPr lang="en-US" b="true" sz="60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09730" y="5827870"/>
            <a:ext cx="1381800" cy="865200"/>
            <a:chOff x="0" y="0"/>
            <a:chExt cx="1842400" cy="1153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99180" y="3703776"/>
            <a:ext cx="1381800" cy="865200"/>
            <a:chOff x="0" y="0"/>
            <a:chExt cx="1842400" cy="1153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06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05577" y="2673160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Obj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ectif du projet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1530" y="5989019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Conception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95027" y="3735238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Tableau de bord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09730" y="2641684"/>
            <a:ext cx="1381800" cy="865200"/>
            <a:chOff x="0" y="0"/>
            <a:chExt cx="1842400" cy="1153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916075" y="5529506"/>
            <a:ext cx="3790950" cy="119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is the title of this section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09730" y="3703764"/>
            <a:ext cx="1381800" cy="865200"/>
            <a:chOff x="0" y="0"/>
            <a:chExt cx="1842400" cy="1153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99180" y="5708756"/>
            <a:ext cx="1381800" cy="865200"/>
            <a:chOff x="0" y="0"/>
            <a:chExt cx="1842400" cy="1153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916063" y="7333697"/>
            <a:ext cx="902550" cy="58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5577" y="3735238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oblématique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916075" y="8075096"/>
            <a:ext cx="3790950" cy="119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is the title of this section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09730" y="4765790"/>
            <a:ext cx="1381800" cy="865200"/>
            <a:chOff x="0" y="0"/>
            <a:chExt cx="1842400" cy="1153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705577" y="4797260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olution proposée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99180" y="2641696"/>
            <a:ext cx="1381800" cy="865200"/>
            <a:chOff x="0" y="0"/>
            <a:chExt cx="1842400" cy="1153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580980" y="2797761"/>
            <a:ext cx="7256703" cy="145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Authentification (Connexion)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9199180" y="4765802"/>
            <a:ext cx="1381800" cy="865200"/>
            <a:chOff x="0" y="0"/>
            <a:chExt cx="1842400" cy="1153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07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595027" y="4797260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estion des employés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30074" y="5799295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estion des congés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199180" y="6659932"/>
            <a:ext cx="1381800" cy="865200"/>
            <a:chOff x="0" y="0"/>
            <a:chExt cx="1842400" cy="1153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42400" cy="1153600"/>
            </a:xfrm>
            <a:custGeom>
              <a:avLst/>
              <a:gdLst/>
              <a:ahLst/>
              <a:cxnLst/>
              <a:rect r="r" b="b" t="t" l="l"/>
              <a:pathLst>
                <a:path h="1153600" w="1842400">
                  <a:moveTo>
                    <a:pt x="0" y="0"/>
                  </a:moveTo>
                  <a:lnTo>
                    <a:pt x="1842400" y="0"/>
                  </a:lnTo>
                  <a:lnTo>
                    <a:pt x="1842400" y="1153600"/>
                  </a:lnTo>
                  <a:lnTo>
                    <a:pt x="0" y="11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23825"/>
              <a:ext cx="1842400" cy="102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8"/>
                </a:lnSpc>
              </a:pPr>
              <a:r>
                <a:rPr lang="en-US" b="true" sz="42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09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430074" y="6821069"/>
            <a:ext cx="62917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estion de la paie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0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232325" y="4504423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175" y="2901850"/>
            <a:ext cx="11577150" cy="630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Object</a:t>
            </a: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if du projet :</a:t>
            </a:r>
          </a:p>
          <a:p>
            <a:pPr algn="l">
              <a:lnSpc>
                <a:spcPts val="4367"/>
              </a:lnSpc>
            </a:pPr>
          </a:p>
          <a:p>
            <a:pPr algn="l">
              <a:lnSpc>
                <a:spcPts val="3276"/>
              </a:lnSpc>
            </a:pPr>
            <a:r>
              <a:rPr lang="en-US" sz="3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Concevoir une application web permettant de gérer          </a:t>
            </a:r>
          </a:p>
          <a:p>
            <a:pPr algn="l">
              <a:lnSpc>
                <a:spcPts val="3276"/>
              </a:lnSpc>
            </a:pPr>
          </a:p>
          <a:p>
            <a:pPr algn="l">
              <a:lnSpc>
                <a:spcPts val="3276"/>
              </a:lnSpc>
            </a:pPr>
            <a:r>
              <a:rPr lang="en-US" sz="3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efficacement :</a:t>
            </a:r>
          </a:p>
          <a:p>
            <a:pPr algn="l">
              <a:lnSpc>
                <a:spcPts val="3276"/>
              </a:lnSpc>
            </a:pPr>
          </a:p>
          <a:p>
            <a:pPr algn="l" marL="863606" indent="-431803" lvl="1">
              <a:lnSpc>
                <a:spcPts val="336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les employés</a:t>
            </a:r>
          </a:p>
          <a:p>
            <a:pPr algn="l">
              <a:lnSpc>
                <a:spcPts val="3360"/>
              </a:lnSpc>
            </a:pPr>
          </a:p>
          <a:p>
            <a:pPr algn="l" marL="863606" indent="-431803" lvl="1">
              <a:lnSpc>
                <a:spcPts val="336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les congés</a:t>
            </a:r>
          </a:p>
          <a:p>
            <a:pPr algn="l">
              <a:lnSpc>
                <a:spcPts val="3360"/>
              </a:lnSpc>
            </a:pPr>
          </a:p>
          <a:p>
            <a:pPr algn="l" marL="863606" indent="-431803" lvl="1">
              <a:lnSpc>
                <a:spcPts val="336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 paie</a:t>
            </a:r>
          </a:p>
          <a:p>
            <a:pPr algn="l">
              <a:lnSpc>
                <a:spcPts val="3360"/>
              </a:lnSpc>
            </a:pPr>
          </a:p>
          <a:p>
            <a:pPr algn="l" marL="863606" indent="-431803" lvl="1">
              <a:lnSpc>
                <a:spcPts val="3360"/>
              </a:lnSpc>
              <a:buFont typeface="Arial"/>
              <a:buChar char="•"/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et les opérations RH courantes</a:t>
            </a:r>
          </a:p>
          <a:p>
            <a:pPr algn="l">
              <a:lnSpc>
                <a:spcPts val="436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9525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55175" y="2901850"/>
            <a:ext cx="11577150" cy="498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Problématique</a:t>
            </a:r>
          </a:p>
          <a:p>
            <a:pPr algn="l">
              <a:lnSpc>
                <a:spcPts val="4367"/>
              </a:lnSpc>
            </a:pPr>
          </a:p>
          <a:p>
            <a:pPr algn="l">
              <a:lnSpc>
                <a:spcPts val="3696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Dans de nombreuses organisations :</a:t>
            </a:r>
          </a:p>
          <a:p>
            <a:pPr algn="l">
              <a:lnSpc>
                <a:spcPts val="4367"/>
              </a:lnSpc>
            </a:pPr>
          </a:p>
          <a:p>
            <a:pPr algn="l" marL="734069" indent="-367035" lvl="1">
              <a:lnSpc>
                <a:spcPts val="2856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 gestion RH est encore manuelle ou dispersée</a:t>
            </a:r>
          </a:p>
          <a:p>
            <a:pPr algn="l">
              <a:lnSpc>
                <a:spcPts val="2856"/>
              </a:lnSpc>
            </a:pPr>
          </a:p>
          <a:p>
            <a:pPr algn="l" marL="734069" indent="-367035" lvl="1">
              <a:lnSpc>
                <a:spcPts val="2856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les données sont difficiles à centraliser</a:t>
            </a:r>
          </a:p>
          <a:p>
            <a:pPr algn="l">
              <a:lnSpc>
                <a:spcPts val="2856"/>
              </a:lnSpc>
            </a:pPr>
          </a:p>
          <a:p>
            <a:pPr algn="l" marL="734069" indent="-367035" lvl="1">
              <a:lnSpc>
                <a:spcPts val="2856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 suivi des congés et de la paie est source d’erreurs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436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563246" y="2739925"/>
            <a:ext cx="5112017" cy="4114800"/>
          </a:xfrm>
          <a:custGeom>
            <a:avLst/>
            <a:gdLst/>
            <a:ahLst/>
            <a:cxnLst/>
            <a:rect r="r" b="b" t="t" l="l"/>
            <a:pathLst>
              <a:path h="4114800" w="5112017">
                <a:moveTo>
                  <a:pt x="0" y="0"/>
                </a:moveTo>
                <a:lnTo>
                  <a:pt x="5112017" y="0"/>
                </a:lnTo>
                <a:lnTo>
                  <a:pt x="51120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19050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197289" y="3453829"/>
            <a:ext cx="4695311" cy="4114800"/>
          </a:xfrm>
          <a:custGeom>
            <a:avLst/>
            <a:gdLst/>
            <a:ahLst/>
            <a:cxnLst/>
            <a:rect r="r" b="b" t="t" l="l"/>
            <a:pathLst>
              <a:path h="4114800" w="4695311">
                <a:moveTo>
                  <a:pt x="0" y="0"/>
                </a:moveTo>
                <a:lnTo>
                  <a:pt x="4695311" y="0"/>
                </a:lnTo>
                <a:lnTo>
                  <a:pt x="469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5175" y="2901850"/>
            <a:ext cx="11577150" cy="547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Solution proposée</a:t>
            </a:r>
          </a:p>
          <a:p>
            <a:pPr algn="just">
              <a:lnSpc>
                <a:spcPts val="4367"/>
              </a:lnSpc>
            </a:pPr>
          </a:p>
          <a:p>
            <a:pPr algn="just">
              <a:lnSpc>
                <a:spcPts val="3276"/>
              </a:lnSpc>
            </a:pPr>
            <a:r>
              <a:rPr lang="en-US" sz="39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Système GRH – Application Web</a:t>
            </a:r>
          </a:p>
          <a:p>
            <a:pPr algn="just">
              <a:lnSpc>
                <a:spcPts val="3276"/>
              </a:lnSpc>
            </a:pPr>
          </a:p>
          <a:p>
            <a:pPr algn="just">
              <a:lnSpc>
                <a:spcPts val="3192"/>
              </a:lnSpc>
            </a:pPr>
            <a:r>
              <a:rPr lang="en-US" sz="3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Notre solution permet :</a:t>
            </a:r>
          </a:p>
          <a:p>
            <a:pPr algn="just">
              <a:lnSpc>
                <a:spcPts val="3192"/>
              </a:lnSpc>
            </a:pPr>
          </a:p>
          <a:p>
            <a:pPr algn="just" marL="647711" indent="-323856" lvl="1">
              <a:lnSpc>
                <a:spcPts val="25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une gestion centralisée des employés</a:t>
            </a:r>
          </a:p>
          <a:p>
            <a:pPr algn="just">
              <a:lnSpc>
                <a:spcPts val="2520"/>
              </a:lnSpc>
            </a:pPr>
          </a:p>
          <a:p>
            <a:pPr algn="just" marL="647711" indent="-323856" lvl="1">
              <a:lnSpc>
                <a:spcPts val="25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 suivi des congés en temps réel</a:t>
            </a:r>
          </a:p>
          <a:p>
            <a:pPr algn="just">
              <a:lnSpc>
                <a:spcPts val="2520"/>
              </a:lnSpc>
            </a:pPr>
          </a:p>
          <a:p>
            <a:pPr algn="just" marL="647711" indent="-323856" lvl="1">
              <a:lnSpc>
                <a:spcPts val="25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 génération des fiches de paie</a:t>
            </a:r>
          </a:p>
          <a:p>
            <a:pPr algn="just">
              <a:lnSpc>
                <a:spcPts val="2520"/>
              </a:lnSpc>
            </a:pPr>
          </a:p>
          <a:p>
            <a:pPr algn="just" marL="647711" indent="-323856" lvl="1">
              <a:lnSpc>
                <a:spcPts val="25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 tableau de bord synthétique pour la prise de décision</a:t>
            </a:r>
          </a:p>
          <a:p>
            <a:pPr algn="l">
              <a:lnSpc>
                <a:spcPts val="38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65989" y="1953932"/>
            <a:ext cx="3565817" cy="8043858"/>
          </a:xfrm>
          <a:custGeom>
            <a:avLst/>
            <a:gdLst/>
            <a:ahLst/>
            <a:cxnLst/>
            <a:rect r="r" b="b" t="t" l="l"/>
            <a:pathLst>
              <a:path h="8043858" w="3565817">
                <a:moveTo>
                  <a:pt x="0" y="0"/>
                </a:moveTo>
                <a:lnTo>
                  <a:pt x="3565817" y="0"/>
                </a:lnTo>
                <a:lnTo>
                  <a:pt x="3565817" y="8043859"/>
                </a:lnTo>
                <a:lnTo>
                  <a:pt x="0" y="804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4" r="0" b="-30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48779" y="2031724"/>
            <a:ext cx="4688694" cy="7888274"/>
          </a:xfrm>
          <a:custGeom>
            <a:avLst/>
            <a:gdLst/>
            <a:ahLst/>
            <a:cxnLst/>
            <a:rect r="r" b="b" t="t" l="l"/>
            <a:pathLst>
              <a:path h="7888274" w="4688694">
                <a:moveTo>
                  <a:pt x="0" y="0"/>
                </a:moveTo>
                <a:lnTo>
                  <a:pt x="4688693" y="0"/>
                </a:lnTo>
                <a:lnTo>
                  <a:pt x="4688693" y="7888275"/>
                </a:lnTo>
                <a:lnTo>
                  <a:pt x="0" y="7888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1445" y="759663"/>
            <a:ext cx="9196917" cy="62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Conception (cas d’utilisation)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471128" y="754812"/>
            <a:ext cx="11223648" cy="9415263"/>
          </a:xfrm>
          <a:custGeom>
            <a:avLst/>
            <a:gdLst/>
            <a:ahLst/>
            <a:cxnLst/>
            <a:rect r="r" b="b" t="t" l="l"/>
            <a:pathLst>
              <a:path h="9415263" w="11223648">
                <a:moveTo>
                  <a:pt x="0" y="0"/>
                </a:moveTo>
                <a:lnTo>
                  <a:pt x="11223648" y="0"/>
                </a:lnTo>
                <a:lnTo>
                  <a:pt x="11223648" y="9415263"/>
                </a:lnTo>
                <a:lnTo>
                  <a:pt x="0" y="9415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8" r="0" b="-51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2175" y="1307550"/>
            <a:ext cx="5417815" cy="17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Diagramme des classes (Système GRH)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13275" y="1423797"/>
            <a:ext cx="12625033" cy="8663929"/>
          </a:xfrm>
          <a:custGeom>
            <a:avLst/>
            <a:gdLst/>
            <a:ahLst/>
            <a:cxnLst/>
            <a:rect r="r" b="b" t="t" l="l"/>
            <a:pathLst>
              <a:path h="8663929" w="12625033">
                <a:moveTo>
                  <a:pt x="0" y="0"/>
                </a:moveTo>
                <a:lnTo>
                  <a:pt x="12625033" y="0"/>
                </a:lnTo>
                <a:lnTo>
                  <a:pt x="12625033" y="8663929"/>
                </a:lnTo>
                <a:lnTo>
                  <a:pt x="0" y="8663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6377" y="795528"/>
            <a:ext cx="18234018" cy="62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Diagramme de séquence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423797"/>
            <a:ext cx="15254053" cy="8771080"/>
          </a:xfrm>
          <a:custGeom>
            <a:avLst/>
            <a:gdLst/>
            <a:ahLst/>
            <a:cxnLst/>
            <a:rect r="r" b="b" t="t" l="l"/>
            <a:pathLst>
              <a:path h="8771080" w="15254053">
                <a:moveTo>
                  <a:pt x="0" y="0"/>
                </a:moveTo>
                <a:lnTo>
                  <a:pt x="15254053" y="0"/>
                </a:lnTo>
                <a:lnTo>
                  <a:pt x="15254053" y="8771080"/>
                </a:lnTo>
                <a:lnTo>
                  <a:pt x="0" y="8771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6377" y="795528"/>
            <a:ext cx="18234018" cy="62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Diagramme de séquence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771455" y="97826"/>
            <a:ext cx="11678137" cy="10189174"/>
          </a:xfrm>
          <a:custGeom>
            <a:avLst/>
            <a:gdLst/>
            <a:ahLst/>
            <a:cxnLst/>
            <a:rect r="r" b="b" t="t" l="l"/>
            <a:pathLst>
              <a:path h="10189174" w="11678137">
                <a:moveTo>
                  <a:pt x="0" y="0"/>
                </a:moveTo>
                <a:lnTo>
                  <a:pt x="11678136" y="0"/>
                </a:lnTo>
                <a:lnTo>
                  <a:pt x="11678136" y="10189174"/>
                </a:lnTo>
                <a:lnTo>
                  <a:pt x="0" y="10189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429" y="3216867"/>
            <a:ext cx="18234018" cy="17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Diagramme </a:t>
            </a:r>
          </a:p>
          <a:p>
            <a:pPr algn="l">
              <a:lnSpc>
                <a:spcPts val="4367"/>
              </a:lnSpc>
            </a:pPr>
            <a:r>
              <a:rPr lang="en-US" sz="5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</a:t>
            </a:r>
          </a:p>
          <a:p>
            <a:pPr algn="l">
              <a:lnSpc>
                <a:spcPts val="4368"/>
              </a:lnSpc>
            </a:pPr>
            <a:r>
              <a:rPr lang="en-US" sz="5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séquence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5566108" y="2134774"/>
            <a:ext cx="11945392" cy="6719304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24383873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3873" y="0"/>
                  </a:lnTo>
                  <a:lnTo>
                    <a:pt x="24383873" y="13716000"/>
                  </a:lnTo>
                  <a:close/>
                </a:path>
              </a:pathLst>
            </a:custGeom>
            <a:blipFill>
              <a:blip r:embed="rId3"/>
              <a:stretch>
                <a:fillRect l="-52079" t="0" r="-5207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6996" y="4695947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l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ancement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5566108" y="2134774"/>
            <a:ext cx="11945392" cy="6719304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24383873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3873" y="0"/>
                  </a:lnTo>
                  <a:lnTo>
                    <a:pt x="24383873" y="13716000"/>
                  </a:lnTo>
                  <a:close/>
                </a:path>
              </a:pathLst>
            </a:custGeom>
            <a:blipFill>
              <a:blip r:embed="rId3"/>
              <a:stretch>
                <a:fillRect l="-26201" t="0" r="-26201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76996" y="4695947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connexion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41624" y="3464150"/>
            <a:ext cx="12804752" cy="5794150"/>
          </a:xfrm>
          <a:custGeom>
            <a:avLst/>
            <a:gdLst/>
            <a:ahLst/>
            <a:cxnLst/>
            <a:rect r="r" b="b" t="t" l="l"/>
            <a:pathLst>
              <a:path h="5794150" w="12804752">
                <a:moveTo>
                  <a:pt x="0" y="0"/>
                </a:moveTo>
                <a:lnTo>
                  <a:pt x="12804752" y="0"/>
                </a:lnTo>
                <a:lnTo>
                  <a:pt x="12804752" y="5794150"/>
                </a:lnTo>
                <a:lnTo>
                  <a:pt x="0" y="5794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77605" y="2015508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tabl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eau de bord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413275" y="3065983"/>
            <a:ext cx="13996029" cy="6420678"/>
          </a:xfrm>
          <a:custGeom>
            <a:avLst/>
            <a:gdLst/>
            <a:ahLst/>
            <a:cxnLst/>
            <a:rect r="r" b="b" t="t" l="l"/>
            <a:pathLst>
              <a:path h="6420678" w="13996029">
                <a:moveTo>
                  <a:pt x="0" y="0"/>
                </a:moveTo>
                <a:lnTo>
                  <a:pt x="13996029" y="0"/>
                </a:lnTo>
                <a:lnTo>
                  <a:pt x="13996029" y="6420678"/>
                </a:lnTo>
                <a:lnTo>
                  <a:pt x="0" y="6420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77605" y="2015508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tabl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eau de bord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650064" y="3736097"/>
            <a:ext cx="13457222" cy="4296498"/>
          </a:xfrm>
          <a:custGeom>
            <a:avLst/>
            <a:gdLst/>
            <a:ahLst/>
            <a:cxnLst/>
            <a:rect r="r" b="b" t="t" l="l"/>
            <a:pathLst>
              <a:path h="4296498" w="13457222">
                <a:moveTo>
                  <a:pt x="0" y="0"/>
                </a:moveTo>
                <a:lnTo>
                  <a:pt x="13457222" y="0"/>
                </a:lnTo>
                <a:lnTo>
                  <a:pt x="13457222" y="4296499"/>
                </a:lnTo>
                <a:lnTo>
                  <a:pt x="0" y="4296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24502" y="2392440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liste des 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employés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80411"/>
            <a:ext cx="16777654" cy="7121765"/>
          </a:xfrm>
          <a:custGeom>
            <a:avLst/>
            <a:gdLst/>
            <a:ahLst/>
            <a:cxnLst/>
            <a:rect r="r" b="b" t="t" l="l"/>
            <a:pathLst>
              <a:path h="7121765" w="16777654">
                <a:moveTo>
                  <a:pt x="0" y="0"/>
                </a:moveTo>
                <a:lnTo>
                  <a:pt x="16777654" y="0"/>
                </a:lnTo>
                <a:lnTo>
                  <a:pt x="16777654" y="7121765"/>
                </a:lnTo>
                <a:lnTo>
                  <a:pt x="0" y="7121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42025" y="1207103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nouveau 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employé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82532"/>
            <a:ext cx="16545550" cy="4644818"/>
          </a:xfrm>
          <a:custGeom>
            <a:avLst/>
            <a:gdLst/>
            <a:ahLst/>
            <a:cxnLst/>
            <a:rect r="r" b="b" t="t" l="l"/>
            <a:pathLst>
              <a:path h="4644818" w="16545550">
                <a:moveTo>
                  <a:pt x="0" y="0"/>
                </a:moveTo>
                <a:lnTo>
                  <a:pt x="16545550" y="0"/>
                </a:lnTo>
                <a:lnTo>
                  <a:pt x="16545550" y="4644819"/>
                </a:lnTo>
                <a:lnTo>
                  <a:pt x="0" y="4644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42025" y="1938481"/>
            <a:ext cx="5203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gestion des c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ongés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23009" y="1671851"/>
            <a:ext cx="16541569" cy="7973794"/>
          </a:xfrm>
          <a:custGeom>
            <a:avLst/>
            <a:gdLst/>
            <a:ahLst/>
            <a:cxnLst/>
            <a:rect r="r" b="b" t="t" l="l"/>
            <a:pathLst>
              <a:path h="7973794" w="16541569">
                <a:moveTo>
                  <a:pt x="0" y="0"/>
                </a:moveTo>
                <a:lnTo>
                  <a:pt x="16541569" y="0"/>
                </a:lnTo>
                <a:lnTo>
                  <a:pt x="16541569" y="7973794"/>
                </a:lnTo>
                <a:lnTo>
                  <a:pt x="0" y="7973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30588" y="942975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nouvelle demande de c</a:t>
            </a: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ongé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73347" y="4243289"/>
            <a:ext cx="16414692" cy="3488122"/>
          </a:xfrm>
          <a:custGeom>
            <a:avLst/>
            <a:gdLst/>
            <a:ahLst/>
            <a:cxnLst/>
            <a:rect r="r" b="b" t="t" l="l"/>
            <a:pathLst>
              <a:path h="3488122" w="16414692">
                <a:moveTo>
                  <a:pt x="0" y="0"/>
                </a:moveTo>
                <a:lnTo>
                  <a:pt x="16414692" y="0"/>
                </a:lnTo>
                <a:lnTo>
                  <a:pt x="16414692" y="3488122"/>
                </a:lnTo>
                <a:lnTo>
                  <a:pt x="0" y="3488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67245" y="2531831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gestion de paie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59726" y="1924050"/>
            <a:ext cx="16768549" cy="7973794"/>
          </a:xfrm>
          <a:custGeom>
            <a:avLst/>
            <a:gdLst/>
            <a:ahLst/>
            <a:cxnLst/>
            <a:rect r="r" b="b" t="t" l="l"/>
            <a:pathLst>
              <a:path h="7973794" w="16768549">
                <a:moveTo>
                  <a:pt x="0" y="0"/>
                </a:moveTo>
                <a:lnTo>
                  <a:pt x="16768548" y="0"/>
                </a:lnTo>
                <a:lnTo>
                  <a:pt x="16768548" y="7973794"/>
                </a:lnTo>
                <a:lnTo>
                  <a:pt x="0" y="7973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8066" y="942975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nouvelle fiche de paie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19712" y="3816092"/>
            <a:ext cx="16297180" cy="4718276"/>
          </a:xfrm>
          <a:custGeom>
            <a:avLst/>
            <a:gdLst/>
            <a:ahLst/>
            <a:cxnLst/>
            <a:rect r="r" b="b" t="t" l="l"/>
            <a:pathLst>
              <a:path h="4718276" w="16297180">
                <a:moveTo>
                  <a:pt x="0" y="0"/>
                </a:moveTo>
                <a:lnTo>
                  <a:pt x="16297180" y="0"/>
                </a:lnTo>
                <a:lnTo>
                  <a:pt x="16297180" y="4718275"/>
                </a:lnTo>
                <a:lnTo>
                  <a:pt x="0" y="4718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38506" y="2153532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Liste des employés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104" y="2069119"/>
            <a:ext cx="18282421" cy="7189181"/>
          </a:xfrm>
          <a:custGeom>
            <a:avLst/>
            <a:gdLst/>
            <a:ahLst/>
            <a:cxnLst/>
            <a:rect r="r" b="b" t="t" l="l"/>
            <a:pathLst>
              <a:path h="7189181" w="18282421">
                <a:moveTo>
                  <a:pt x="0" y="0"/>
                </a:moveTo>
                <a:lnTo>
                  <a:pt x="18282421" y="0"/>
                </a:lnTo>
                <a:lnTo>
                  <a:pt x="18282421" y="7189181"/>
                </a:lnTo>
                <a:lnTo>
                  <a:pt x="0" y="718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61966" y="942975"/>
            <a:ext cx="8406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informations d’employé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26772" y="3448038"/>
            <a:ext cx="17858445" cy="5218014"/>
          </a:xfrm>
          <a:custGeom>
            <a:avLst/>
            <a:gdLst/>
            <a:ahLst/>
            <a:cxnLst/>
            <a:rect r="r" b="b" t="t" l="l"/>
            <a:pathLst>
              <a:path h="5218014" w="17858445">
                <a:moveTo>
                  <a:pt x="0" y="0"/>
                </a:moveTo>
                <a:lnTo>
                  <a:pt x="17858446" y="0"/>
                </a:lnTo>
                <a:lnTo>
                  <a:pt x="17858446" y="5218015"/>
                </a:lnTo>
                <a:lnTo>
                  <a:pt x="0" y="5218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9767" y="1926565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fiche de paie créée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49963" y="1514475"/>
            <a:ext cx="13176522" cy="8534161"/>
          </a:xfrm>
          <a:custGeom>
            <a:avLst/>
            <a:gdLst/>
            <a:ahLst/>
            <a:cxnLst/>
            <a:rect r="r" b="b" t="t" l="l"/>
            <a:pathLst>
              <a:path h="8534161" w="13176522">
                <a:moveTo>
                  <a:pt x="0" y="0"/>
                </a:moveTo>
                <a:lnTo>
                  <a:pt x="13176522" y="0"/>
                </a:lnTo>
                <a:lnTo>
                  <a:pt x="13176522" y="8534161"/>
                </a:lnTo>
                <a:lnTo>
                  <a:pt x="0" y="8534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89415" y="700087"/>
            <a:ext cx="840688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bulletin de paie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7139" y="3755800"/>
            <a:ext cx="17427810" cy="5002764"/>
          </a:xfrm>
          <a:custGeom>
            <a:avLst/>
            <a:gdLst/>
            <a:ahLst/>
            <a:cxnLst/>
            <a:rect r="r" b="b" t="t" l="l"/>
            <a:pathLst>
              <a:path h="5002764" w="17427810">
                <a:moveTo>
                  <a:pt x="0" y="0"/>
                </a:moveTo>
                <a:lnTo>
                  <a:pt x="17427809" y="0"/>
                </a:lnTo>
                <a:lnTo>
                  <a:pt x="17427809" y="5002764"/>
                </a:lnTo>
                <a:lnTo>
                  <a:pt x="0" y="500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7157" y="2212750"/>
            <a:ext cx="8406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demande de congé créée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836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058949" y="1837443"/>
            <a:ext cx="13725808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1"/>
              </a:lnSpc>
            </a:pPr>
            <a:r>
              <a:rPr lang="en-US" sz="473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473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imites et améliorations fu</a:t>
            </a:r>
            <a:r>
              <a:rPr lang="en-US" sz="473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tures</a:t>
            </a:r>
          </a:p>
          <a:p>
            <a:pPr algn="l">
              <a:lnSpc>
                <a:spcPts val="5681"/>
              </a:lnSpc>
            </a:pPr>
          </a:p>
          <a:p>
            <a:pPr algn="l">
              <a:lnSpc>
                <a:spcPts val="5081"/>
              </a:lnSpc>
            </a:pPr>
            <a:r>
              <a:rPr lang="en-US" sz="4234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     </a:t>
            </a:r>
            <a:r>
              <a:rPr lang="en-US" sz="4234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Améliorations</a:t>
            </a:r>
            <a:r>
              <a:rPr lang="en-US" sz="4234">
                <a:solidFill>
                  <a:srgbClr val="FFFFFF"/>
                </a:solidFill>
                <a:latin typeface="Pathway Gothic One"/>
                <a:ea typeface="Pathway Gothic One"/>
                <a:cs typeface="Pathway Gothic One"/>
                <a:sym typeface="Pathway Gothic One"/>
              </a:rPr>
              <a:t> possibles :  </a:t>
            </a:r>
          </a:p>
          <a:p>
            <a:pPr algn="l">
              <a:lnSpc>
                <a:spcPts val="5081"/>
              </a:lnSpc>
            </a:pPr>
          </a:p>
          <a:p>
            <a:pPr algn="l" marL="763180" indent="-381590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</a:t>
            </a: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estion des rôles (Admin / RH / Employé)</a:t>
            </a:r>
          </a:p>
          <a:p>
            <a:pPr algn="l">
              <a:lnSpc>
                <a:spcPts val="4241"/>
              </a:lnSpc>
            </a:pPr>
          </a:p>
          <a:p>
            <a:pPr algn="l" marL="763180" indent="-381590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</a:t>
            </a: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ort PDF des fiches de paie</a:t>
            </a:r>
          </a:p>
          <a:p>
            <a:pPr algn="l">
              <a:lnSpc>
                <a:spcPts val="4241"/>
              </a:lnSpc>
            </a:pPr>
          </a:p>
          <a:p>
            <a:pPr algn="l" marL="763180" indent="-381590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Historiq</a:t>
            </a: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des congés</a:t>
            </a:r>
          </a:p>
          <a:p>
            <a:pPr algn="l">
              <a:lnSpc>
                <a:spcPts val="4241"/>
              </a:lnSpc>
            </a:pPr>
          </a:p>
          <a:p>
            <a:pPr algn="l" marL="763180" indent="-381590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Notifications par</a:t>
            </a: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email</a:t>
            </a:r>
          </a:p>
          <a:p>
            <a:pPr algn="l">
              <a:lnSpc>
                <a:spcPts val="4241"/>
              </a:lnSpc>
            </a:pPr>
          </a:p>
          <a:p>
            <a:pPr algn="l" marL="763180" indent="-381590" lvl="1">
              <a:lnSpc>
                <a:spcPts val="4241"/>
              </a:lnSpc>
              <a:buFont typeface="Arial"/>
              <a:buChar char="•"/>
            </a:pPr>
            <a:r>
              <a:rPr lang="en-US" sz="35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Statistiques avancées (turnover, absences)</a:t>
            </a:r>
          </a:p>
          <a:p>
            <a:pPr algn="l" marL="812361" indent="-406181" lvl="1">
              <a:lnSpc>
                <a:spcPts val="272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3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0" y="0"/>
            <a:ext cx="18287942" cy="10287000"/>
            <a:chOff x="0" y="0"/>
            <a:chExt cx="2438392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8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873">
                  <a:moveTo>
                    <a:pt x="0" y="0"/>
                  </a:moveTo>
                  <a:lnTo>
                    <a:pt x="24383873" y="0"/>
                  </a:lnTo>
                  <a:lnTo>
                    <a:pt x="243838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4122">
            <a:off x="2413269" y="602500"/>
            <a:ext cx="15884261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621113" y="4652327"/>
            <a:ext cx="90457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Merci pour votre Attention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DAG8XHCoSrA</dc:identifier>
  <dcterms:modified xsi:type="dcterms:W3CDTF">2011-08-01T06:04:30Z</dcterms:modified>
  <cp:revision>1</cp:revision>
  <dc:title>Copie de Project Roadmaps by Slidesgo (2).pptx</dc:title>
</cp:coreProperties>
</file>